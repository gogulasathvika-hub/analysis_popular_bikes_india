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63" r:id="rId6"/>
    <p:sldId id="264" r:id="rId7"/>
    <p:sldId id="275" r:id="rId8"/>
    <p:sldId id="265" r:id="rId9"/>
    <p:sldId id="278" r:id="rId10"/>
    <p:sldId id="267" r:id="rId11"/>
    <p:sldId id="268" r:id="rId12"/>
    <p:sldId id="269" r:id="rId13"/>
    <p:sldId id="270" r:id="rId14"/>
    <p:sldId id="276" r:id="rId15"/>
    <p:sldId id="271" r:id="rId16"/>
    <p:sldId id="273" r:id="rId17"/>
    <p:sldId id="277" r:id="rId18"/>
    <p:sldId id="274" r:id="rId19"/>
    <p:sldId id="259" r:id="rId20"/>
  </p:sldIdLst>
  <p:sldSz cx="12192000" cy="6858000"/>
  <p:notesSz cx="6858000" cy="9144000"/>
  <p:embeddedFontLs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Lato Black" panose="020F0502020204030203" pitchFamily="34" charset="0"/>
      <p:bold r:id="rId26"/>
      <p:boldItalic r:id="rId27"/>
    </p:embeddedFont>
    <p:embeddedFont>
      <p:font typeface="Libre Baskerville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OJMYRtMJHTmKh9+lTrbj+exko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B7E1"/>
    <a:srgbClr val="3B6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gogula-sathvika-6a182031b?utm_source=share_via&amp;utm_content=profile%20&amp;utm_medium=member_androi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ogulasathvika-hub/Analysis_Popular_Bikes_India.git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kewale.com/new-bike-search/?utm_source=chatgpt.com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-577516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079613" y="3678658"/>
            <a:ext cx="830325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Popular Bikes in India</a:t>
            </a:r>
            <a:endParaRPr sz="36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4FFDBD-EC1F-49C5-893A-4FE3FB0D50A4}"/>
              </a:ext>
            </a:extLst>
          </p:cNvPr>
          <p:cNvSpPr txBox="1"/>
          <p:nvPr/>
        </p:nvSpPr>
        <p:spPr>
          <a:xfrm>
            <a:off x="4610501" y="4601947"/>
            <a:ext cx="7228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Sathvika Gogula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427656" y="505454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 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83734F8-2A83-410B-969A-7B80201F3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488639"/>
              </p:ext>
            </p:extLst>
          </p:nvPr>
        </p:nvGraphicFramePr>
        <p:xfrm>
          <a:off x="540084" y="1309036"/>
          <a:ext cx="9758948" cy="5181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8948">
                  <a:extLst>
                    <a:ext uri="{9D8B030D-6E8A-4147-A177-3AD203B41FA5}">
                      <a16:colId xmlns:a16="http://schemas.microsoft.com/office/drawing/2014/main" val="2421895135"/>
                    </a:ext>
                  </a:extLst>
                </a:gridCol>
              </a:tblGrid>
              <a:tr h="5819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: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Sathvika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Gogula</a:t>
                      </a:r>
                      <a:endParaRPr lang="en-IN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264950"/>
                  </a:ext>
                </a:extLst>
              </a:tr>
              <a:tr h="10044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Background: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B.Tech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Biomedical Engineering, SRM University, Chennai.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594731"/>
                  </a:ext>
                </a:extLst>
              </a:tr>
              <a:tr h="10044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Why Data Science: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develop my skills in data analysis, Python, and machine learning and build a career in Data Science.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510720"/>
                  </a:ext>
                </a:extLst>
              </a:tr>
              <a:tr h="58196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Experience: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Fresher.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599464"/>
                  </a:ext>
                </a:extLst>
              </a:tr>
              <a:tr h="10044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LinkedIn: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https://www.linkedin.com/in/gogula-sathvika-6a182031b?utm_source=share_via&amp;utm_content=profile &amp;utm_medium=member_android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18337"/>
                  </a:ext>
                </a:extLst>
              </a:tr>
              <a:tr h="10044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</a:t>
                      </a: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https://github.com/gogulasathvika-hub/Analysis_Popular_Bikes_India.git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24974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Table of contents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17503" y="1165875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Testing — ANOVA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371634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253"/>
              <a:buFont typeface="Arial"/>
              <a:buChar char="•"/>
            </a:pPr>
            <a:endParaRPr sz="326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Business</a:t>
            </a:r>
            <a:r>
              <a:rPr lang="en-IN" b="1" dirty="0"/>
              <a:t> </a:t>
            </a:r>
            <a:r>
              <a:rPr lang="en-IN" b="1" dirty="0">
                <a:solidFill>
                  <a:srgbClr val="FF0000"/>
                </a:solidFill>
              </a:rPr>
              <a:t>Problem</a:t>
            </a: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26691" y="1468195"/>
            <a:ext cx="9839034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Indian bike market offers many models with different prices, mileage, engine capacities, power, and customer ratings.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may find it difficult to compare these specifications and identify a bike that suits their needs and budget.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Bike information is available for different models, but comparing multiple features together can be time-consuming.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Differences in price, mileage, engine capacity, and power make it challenging to evaluate bikes based on their overall features.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need a clear comparison of bike specifications to understand the advantages of different models.</a:t>
            </a:r>
          </a:p>
          <a:p>
            <a:pPr marL="85566" lvl="0" indent="0" algn="just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SzPts val="1800"/>
              <a:buNone/>
            </a:pPr>
            <a:endParaRPr lang="en-IN" sz="2200" b="0" i="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Project Objectives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9344644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information about different bike models in India, including price, mileage, engine capacity, power, weight, and customer ratings.</a:t>
            </a:r>
          </a:p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Analysis: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important bike specifications to understand differences in performance, fuel efficiency, and pricing across various models.</a:t>
            </a:r>
          </a:p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Comparison: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different bike models based on their features, prices, and ratings to identify suitable options across different price ranges.</a:t>
            </a:r>
          </a:p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relationship between bike price and mileage and compare average prices across different brands to identify useful patterns.</a:t>
            </a:r>
          </a:p>
          <a:p>
            <a:pPr algn="just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and Insights: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the findings using charts and graphs to identify highly rated bikes, mileage-efficient models, and useful comparisons that support purchasing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Introduction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9248392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Indian two-wheeler market offers a wide range of bikes designed for different customer needs, budgets, and riding preferences.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specifications such as price, mileage, engine capacity, power, weight, and customer ratings are important factors when comparing different models.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information about 30 bike models collected from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BikeWale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 to understand their features and differences.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were used to collect, organize, clean, and analyze the data, making it easier to compare bike models systematically.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data analysis, statistical techniques, and visualizations to identify patterns in pricing, mileage, ratings, and other bike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299FB8-8712-49C4-BACC-4894609CF6D0}"/>
              </a:ext>
            </a:extLst>
          </p:cNvPr>
          <p:cNvSpPr txBox="1"/>
          <p:nvPr/>
        </p:nvSpPr>
        <p:spPr>
          <a:xfrm>
            <a:off x="818147" y="539015"/>
            <a:ext cx="8229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and Technologies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28E06-B25B-414D-9A8A-0C25D43A8F45}"/>
              </a:ext>
            </a:extLst>
          </p:cNvPr>
          <p:cNvSpPr txBox="1"/>
          <p:nvPr/>
        </p:nvSpPr>
        <p:spPr>
          <a:xfrm>
            <a:off x="818146" y="1848051"/>
            <a:ext cx="77938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data collection, cleaning, and analysis.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retrieve webpage content from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BikeWale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extract bike details from HTML content.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organize and process the dataset.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charts and visualize the results.</a:t>
            </a:r>
          </a:p>
        </p:txBody>
      </p:sp>
    </p:spTree>
    <p:extLst>
      <p:ext uri="{BB962C8B-B14F-4D97-AF65-F5344CB8AC3E}">
        <p14:creationId xmlns:p14="http://schemas.microsoft.com/office/powerpoint/2010/main" val="2512992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182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Data Collection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8866444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 information was collected from 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BikeWale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website, which provides specifications of different bike models available in India.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Webpage Access: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Requests library was used to send HTTP requests and retrieve the webpage content.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BeautifulSoup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used to parse the HTML content and extract the required bike details.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Organization: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extracted information was organized into a structured Pandas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processing and analysis.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30 bike models were collected, with 9 features for each bike.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https://www.bikewale.com/new-bike-search/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D6308-5E95-49E0-B3A4-6F8A954A4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52" y="43226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  <a:br>
              <a:rPr lang="en-US" sz="4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dataset contains 30 rows and 9 columns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EB4147-583B-4A75-A848-3B195BFE6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36" y="1690688"/>
            <a:ext cx="8286995" cy="50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65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24444" y="19815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Data Cleaning</a:t>
            </a:r>
            <a:br>
              <a:rPr lang="en-IN" dirty="0"/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DCF870-301C-4588-94C2-5DBE5BAB66AC}"/>
              </a:ext>
            </a:extLst>
          </p:cNvPr>
          <p:cNvSpPr txBox="1"/>
          <p:nvPr/>
        </p:nvSpPr>
        <p:spPr>
          <a:xfrm>
            <a:off x="333449" y="1284949"/>
            <a:ext cx="988587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Inspection: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the dataset structure, column names, and data types to understand the collected information.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missing values in numerical columns and filled them using the median to retain the available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Duplicate Check: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 for duplicate records to avoid repeated entries affecting the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Standardization: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Corrected inconsistent brand names to maintain uniformity in the dataset.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4BC5E9-BA32-45AF-8518-5DCCFE2AF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644" y="3757683"/>
            <a:ext cx="3393897" cy="2949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2409C5-D7AD-4F0F-A4BF-00A59BA6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36" y="3757683"/>
            <a:ext cx="4225217" cy="1815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33389" y="35919"/>
            <a:ext cx="11516100" cy="944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800" b="1" dirty="0">
                <a:solidFill>
                  <a:srgbClr val="FF0000"/>
                </a:solidFill>
              </a:rPr>
              <a:t>Univariate Analysis</a:t>
            </a:r>
            <a:endParaRPr sz="48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33389" y="958757"/>
            <a:ext cx="9878655" cy="61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collected dataset of 30 bikes was analyzed to understand pricing patterns, customer ratings, and differences between bike models.</a:t>
            </a:r>
            <a:endParaRPr lang="en-IN" sz="1800" b="0" i="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E57204-FB16-49B4-AA8F-213C175D7EEB}"/>
              </a:ext>
            </a:extLst>
          </p:cNvPr>
          <p:cNvSpPr txBox="1"/>
          <p:nvPr/>
        </p:nvSpPr>
        <p:spPr>
          <a:xfrm>
            <a:off x="603189" y="1865237"/>
            <a:ext cx="44480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Top 10 Rated Bikes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Yamaha R15 V4 received the highest rating of 4.8 among the collected bikes.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EE258A-4CC0-4E95-AC49-484BA5240A74}"/>
              </a:ext>
            </a:extLst>
          </p:cNvPr>
          <p:cNvSpPr txBox="1"/>
          <p:nvPr/>
        </p:nvSpPr>
        <p:spPr>
          <a:xfrm>
            <a:off x="7223783" y="1792325"/>
            <a:ext cx="39854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Distribution of Bike Prices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average price of the 30 bikes was ₹1,52,140.13.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3152DBB-5D4B-45AF-928E-E226CD832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828" y="2715508"/>
            <a:ext cx="5662611" cy="384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80F2771-8447-4498-B032-A7A997DEF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966" y="2715508"/>
            <a:ext cx="5021210" cy="3460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402116" y="930323"/>
            <a:ext cx="10164941" cy="424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engine capacity and power was examined, and the average prices of bike models across different brands was analyzed.</a:t>
            </a:r>
            <a:endParaRPr lang="en-IN" sz="1800" b="1" i="0" dirty="0">
              <a:solidFill>
                <a:srgbClr val="C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F416C1-629C-4C8E-B6B6-C9AE8563D969}"/>
              </a:ext>
            </a:extLst>
          </p:cNvPr>
          <p:cNvSpPr txBox="1"/>
          <p:nvPr/>
        </p:nvSpPr>
        <p:spPr>
          <a:xfrm>
            <a:off x="7097100" y="1717414"/>
            <a:ext cx="46404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Engine Capacity vs Power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engine capacity (CC) with power (BHP).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how engine size and power vary across bike models.</a:t>
            </a:r>
          </a:p>
        </p:txBody>
      </p:sp>
      <p:sp>
        <p:nvSpPr>
          <p:cNvPr id="5" name="Google Shape;110;p4">
            <a:extLst>
              <a:ext uri="{FF2B5EF4-FFF2-40B4-BE49-F238E27FC236}">
                <a16:creationId xmlns:a16="http://schemas.microsoft.com/office/drawing/2014/main" id="{AC2380FF-59D3-436B-8769-6259BCF5DE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7425" y="-183093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800" b="1" dirty="0">
                <a:solidFill>
                  <a:srgbClr val="FF0000"/>
                </a:solidFill>
              </a:rPr>
              <a:t>Bivariate Analysis</a:t>
            </a:r>
            <a:endParaRPr sz="4800" b="1" dirty="0">
              <a:solidFill>
                <a:srgbClr val="FF0000"/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3CEEBD4-B6C7-440E-A3EB-2034DFA62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0276" y="2901142"/>
            <a:ext cx="4640470" cy="328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BC95674B-5F89-4F9C-AC82-487679352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09" y="2825410"/>
            <a:ext cx="5502691" cy="34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CE3307-5D3F-4BDF-9B3C-57780E0AF4C6}"/>
              </a:ext>
            </a:extLst>
          </p:cNvPr>
          <p:cNvSpPr txBox="1"/>
          <p:nvPr/>
        </p:nvSpPr>
        <p:spPr>
          <a:xfrm>
            <a:off x="627194" y="1613679"/>
            <a:ext cx="584905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Average Price by Brand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the average prices of bike models across different brands.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differences in pricing among the brands represented in the dataset.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592088" y="1036417"/>
            <a:ext cx="11500000" cy="615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566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15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examined how mileage varies across bike price categories.</a:t>
            </a:r>
            <a:endParaRPr lang="en-IN" sz="1800" b="0" i="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2A7F2E-07CE-4F08-81A3-DC8FA34322BD}"/>
              </a:ext>
            </a:extLst>
          </p:cNvPr>
          <p:cNvSpPr txBox="1"/>
          <p:nvPr/>
        </p:nvSpPr>
        <p:spPr>
          <a:xfrm>
            <a:off x="740082" y="1500099"/>
            <a:ext cx="103394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Mileage by Price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mileage across Budget, Mid-Range, and Premium bikes.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differences in median mileage, spread, and possible outliers.</a:t>
            </a:r>
          </a:p>
          <a:p>
            <a:endParaRPr lang="en-IN" dirty="0"/>
          </a:p>
        </p:txBody>
      </p:sp>
      <p:sp>
        <p:nvSpPr>
          <p:cNvPr id="5" name="Google Shape;110;p4">
            <a:extLst>
              <a:ext uri="{FF2B5EF4-FFF2-40B4-BE49-F238E27FC236}">
                <a16:creationId xmlns:a16="http://schemas.microsoft.com/office/drawing/2014/main" id="{44E130DD-115A-48C1-A55D-7E1EC2223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9544" y="-57442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4800" b="1" dirty="0">
                <a:solidFill>
                  <a:srgbClr val="FF0000"/>
                </a:solidFill>
              </a:rPr>
              <a:t>Bivariate Analysis</a:t>
            </a:r>
            <a:endParaRPr sz="4800" b="1" dirty="0">
              <a:solidFill>
                <a:srgbClr val="FF0000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2F2F0CCA-64D9-4CFF-9B28-0C39288E8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74" y="2669651"/>
            <a:ext cx="7049192" cy="4071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13A2C-A4EC-48A9-BCAD-8F8BB792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196" y="0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Multi</a:t>
            </a:r>
            <a:r>
              <a:rPr lang="en-IN" sz="4400" b="1" dirty="0">
                <a:solidFill>
                  <a:srgbClr val="FF0000"/>
                </a:solidFill>
              </a:rPr>
              <a:t>variate Analysis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9B68B-E3F2-4FC8-86EA-93BB75ED1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007" y="936163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relationships between numerical bike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mileage showed a correlation of −0.77.</a:t>
            </a:r>
          </a:p>
          <a:p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A0A7CD36-2AE5-4C1A-A307-570033504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384" y="2261725"/>
            <a:ext cx="7308273" cy="4430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167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5" y="0"/>
            <a:ext cx="115161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FF0000"/>
                </a:solidFill>
              </a:rPr>
              <a:t>Statistical Analysis</a:t>
            </a:r>
            <a:endParaRPr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4D1881-FFDD-4928-872B-0BCF735F72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733571"/>
              </p:ext>
            </p:extLst>
          </p:nvPr>
        </p:nvGraphicFramePr>
        <p:xfrm>
          <a:off x="806367" y="1365819"/>
          <a:ext cx="5119984" cy="282211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9992">
                  <a:extLst>
                    <a:ext uri="{9D8B030D-6E8A-4147-A177-3AD203B41FA5}">
                      <a16:colId xmlns:a16="http://schemas.microsoft.com/office/drawing/2014/main" val="2494693227"/>
                    </a:ext>
                  </a:extLst>
                </a:gridCol>
                <a:gridCol w="2559992">
                  <a:extLst>
                    <a:ext uri="{9D8B030D-6E8A-4147-A177-3AD203B41FA5}">
                      <a16:colId xmlns:a16="http://schemas.microsoft.com/office/drawing/2014/main" val="1662589549"/>
                    </a:ext>
                  </a:extLst>
                </a:gridCol>
              </a:tblGrid>
              <a:tr h="602613">
                <a:tc>
                  <a:txBody>
                    <a:bodyPr/>
                    <a:lstStyle/>
                    <a:p>
                      <a:r>
                        <a:rPr lang="en-IN" dirty="0"/>
                        <a:t>Statistical Measure</a:t>
                      </a:r>
                    </a:p>
                  </a:txBody>
                  <a:tcPr anchor="ctr">
                    <a:solidFill>
                      <a:srgbClr val="3B6A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Result</a:t>
                      </a:r>
                    </a:p>
                  </a:txBody>
                  <a:tcPr anchor="ctr">
                    <a:solidFill>
                      <a:srgbClr val="3B6A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06644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rPr lang="en-IN"/>
                        <a:t>Total bikes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98548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/>
                        <a:t>Average price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₹1,52,140.13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92041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/>
                        <a:t>Average mileage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44.06 km/l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4803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/>
                        <a:t>Average rating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4.5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73268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r>
                        <a:rPr lang="en-IN"/>
                        <a:t>Price–mileage correlation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−0.77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426282"/>
                  </a:ext>
                </a:extLst>
              </a:tr>
              <a:tr h="390698">
                <a:tc>
                  <a:txBody>
                    <a:bodyPr/>
                    <a:lstStyle/>
                    <a:p>
                      <a:r>
                        <a:rPr lang="en-IN"/>
                        <a:t>ANOVA p-value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0.0108</a:t>
                      </a:r>
                    </a:p>
                  </a:txBody>
                  <a:tcPr anchor="ctr">
                    <a:solidFill>
                      <a:srgbClr val="9FB7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06385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E521C2A-C584-4F2A-8385-4A3930EDB884}"/>
              </a:ext>
            </a:extLst>
          </p:cNvPr>
          <p:cNvSpPr txBox="1"/>
          <p:nvPr/>
        </p:nvSpPr>
        <p:spPr>
          <a:xfrm>
            <a:off x="687859" y="4476518"/>
            <a:ext cx="8331450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bike price is ₹1,52,140.13, with an average mileage of 44.06 km/l across the 30 bikes.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customer rating is 4.5, indicating generally positive ratings in the collected dataset.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and mileage have a strong negative correlation (−0.77), meaning higher-priced bikes tend to have lower mileage in this sample.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ANOVA (p = 0.0108) indicates a statistically significant difference in average prices among the brand groups analyzed.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421405" y="0"/>
            <a:ext cx="113491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Hypothesis Testing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59943" y="1193876"/>
            <a:ext cx="867525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4300" indent="0" algn="just">
              <a:lnSpc>
                <a:spcPct val="150000"/>
              </a:lnSpc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Hypothesis Testing — ANOVA</a:t>
            </a:r>
          </a:p>
          <a:p>
            <a:pPr marL="114300" indent="0" algn="just">
              <a:lnSpc>
                <a:spcPct val="150000"/>
              </a:lnSpc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 bike prices are equal across the tested brand groups.</a:t>
            </a:r>
          </a:p>
          <a:p>
            <a:pPr marL="114300" indent="0" algn="just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one brand group's mean bike price is different.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Used: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One-Way ANOVA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Level: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5% (0.05)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Rule: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&lt; 0.05, reject H₀.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p-value ≥ 0.05, fail to reject H₀.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F-statistic: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3.976</a:t>
            </a:r>
          </a:p>
          <a:p>
            <a:pPr marL="114300" indent="0" algn="just"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P-value: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0.0108</a:t>
            </a:r>
          </a:p>
          <a:p>
            <a:pPr marL="11430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p-value is less than 0.05, reject H₀. There is a statistically significant difference in mean bike prices across the tested brand groups.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43F1-23EE-4DCF-A96F-C867E9EED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30F22C6-6865-4A8B-BAEA-3E4943CFD4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872974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more bike models and manufacturers to improve dataset coverage.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additional details such as maintenance costs, safety ratings, and service expenses.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bike prices and specifications regularly to keep the dataset current.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to compare bikes based on price, mileage, engine capacity, and ratings.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bike recommendation system based on users’ budgets and riding preferences.</a:t>
            </a:r>
          </a:p>
        </p:txBody>
      </p:sp>
    </p:spTree>
    <p:extLst>
      <p:ext uri="{BB962C8B-B14F-4D97-AF65-F5344CB8AC3E}">
        <p14:creationId xmlns:p14="http://schemas.microsoft.com/office/powerpoint/2010/main" val="4153647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684879" y="18250"/>
            <a:ext cx="1103969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Conclusion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9440897" cy="420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collected and analyzed data on 30 bike models from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BikeWale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website using Python.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and organized with 9 features for further analysis.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helped compare bike prices, mileage, engine capacity, power, and customer ratings.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Yamaha R15 V4 received the highest rating of 4.8, while Hero Xtreme 125R recorded the highest mileage of 66 km/l in the collected dataset.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analysis identified a strong negative relationship between price and mileage, with a correlation coefficient of −0.77.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data analysis and statistical techniques can help compare bikes and identify useful insights.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1384</Words>
  <Application>Microsoft Office PowerPoint</Application>
  <PresentationFormat>Widescreen</PresentationFormat>
  <Paragraphs>138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Times New Roman</vt:lpstr>
      <vt:lpstr>Calibri</vt:lpstr>
      <vt:lpstr>Arial</vt:lpstr>
      <vt:lpstr>Lato Black</vt:lpstr>
      <vt:lpstr>Libre Baskerville</vt:lpstr>
      <vt:lpstr>Office Theme</vt:lpstr>
      <vt:lpstr>PowerPoint Presentation</vt:lpstr>
      <vt:lpstr>PowerPoint Presentation</vt:lpstr>
      <vt:lpstr>Table of contents </vt:lpstr>
      <vt:lpstr>Business Problem</vt:lpstr>
      <vt:lpstr>Project Objectives</vt:lpstr>
      <vt:lpstr>Introduction</vt:lpstr>
      <vt:lpstr>PowerPoint Presentation</vt:lpstr>
      <vt:lpstr>Data Collection</vt:lpstr>
      <vt:lpstr>Dataset Description  Dataset Overview: The final dataset contains 30 rows and 9 columns. </vt:lpstr>
      <vt:lpstr>Data Cleaning </vt:lpstr>
      <vt:lpstr>Univariate Analysis</vt:lpstr>
      <vt:lpstr>Bivariate Analysis</vt:lpstr>
      <vt:lpstr>Bivariate Analysis</vt:lpstr>
      <vt:lpstr>Multivariate Analysis</vt:lpstr>
      <vt:lpstr>Statistical Analysis</vt:lpstr>
      <vt:lpstr>Hypothesis Testing</vt:lpstr>
      <vt:lpstr>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DELL</cp:lastModifiedBy>
  <cp:revision>10</cp:revision>
  <dcterms:created xsi:type="dcterms:W3CDTF">2021-02-16T05:19:01Z</dcterms:created>
  <dcterms:modified xsi:type="dcterms:W3CDTF">2026-10-21T09:36:58Z</dcterms:modified>
</cp:coreProperties>
</file>